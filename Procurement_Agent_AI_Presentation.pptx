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712"/>
  </p:normalViewPr>
  <p:slideViewPr>
    <p:cSldViewPr snapToGrid="0" snapToObjects="1">
      <p:cViewPr varScale="1">
        <p:scale>
          <a:sx n="122" d="100"/>
          <a:sy n="122" d="100"/>
        </p:scale>
        <p:origin x="22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291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Procurement Agent AI reads live Oracle EBS procurement and planning data, spots what matters, and produces auditable next actions instead of another backlog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traditional report tells you what happened. This agent reads data, reasons, decides, acts, and records what it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value is not just speed. It is consistency, traceability, and better prioritization across the whole procurement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Claude Desktop is valuable here because business users do not need to remember script names or parameters. Claude handles tool selection and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 message simple: Oracle holds the data, the agent analyzes it, Claude helps people use it, and outputs stay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operational story for non-technical audiences: connect, read, analyze, prioritize, act,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the bridge slide, then go one workflow at a time with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this workflow in simple business language: Sort hundreds of planning exceptions and push the most important ones to the top. Removes backlog noise and makes sure the team works on the highest-impact supply issues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this workflow in simple business language: Find overdue purchase orders and identify suppliers with repeat late delivery behavior. Helps procurement act before lateness becomes a supply interruption.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this workflow in simple business language: Compare available supply against minimum buffer stock levels. Protects service levels while also making excess inventory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this workflow in simple business language: Spot items where current prices drift above contract or normal historical levels. Protects margin and contract compliance by showing where pricing discipline is slipping.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this workflow in simple business language: Find demand that is not yet covered by planned procurement supply. Makes customer service risk visible before missed commitments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this workflow in simple business language: Turn raw PO spend into supplier risk and savings insights. Helps the team move from transaction chasing to strategic procurement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central message from the guide: this gives procurement a more proactive, traceable, and business-friendly operating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Procurement Agent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FC3F7"/>
                </a:solidFill>
                <a:latin typeface="Calibri"/>
              </a:defRPr>
            </a:pPr>
            <a:r>
              <a:t>for Oracle EBS R12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From exception overload to buyer-ready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9E9E"/>
                </a:solidFill>
                <a:latin typeface="Calibri"/>
              </a:defRPr>
            </a:pPr>
            <a:r>
              <a:t>U2X AI  •  March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E8E4D3-6ABA-B472-9C6E-C3F3EFA13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806" y="2103120"/>
            <a:ext cx="6061842" cy="32283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Procurement Teams Need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Business-first explanation for non-technical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Every day procurement teams face late suppliers, stock risk, price drift, and too many exceptions to review manually.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Hundreds of planning exceptions nobody has time to review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Suppliers delivering late with no automatic follow-up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Inventory running below safety stock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Prices higher than agreed contract rates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Customer orders at risk because supply is not lined up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Limited visibility into who buys what, from whom, and at what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4937760" cy="3474720"/>
          </a:xfrm>
          <a:prstGeom prst="roundRect">
            <a:avLst/>
          </a:prstGeom>
          <a:solidFill>
            <a:srgbClr val="262646"/>
          </a:solidFill>
          <a:ln w="1524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makes it agentic</a:t>
            </a:r>
          </a:p>
          <a:p>
            <a:pPr algn="ctr">
              <a:spcBef>
                <a:spcPts val="800"/>
              </a:spcBef>
              <a:defRPr sz="1500">
                <a:solidFill>
                  <a:srgbClr val="E0E0E0"/>
                </a:solidFill>
                <a:latin typeface="Calibri"/>
              </a:defRPr>
            </a:pPr>
            <a:r>
              <a:t>Reads data</a:t>
            </a:r>
          </a:p>
          <a:p>
            <a:pPr algn="ctr">
              <a:spcBef>
                <a:spcPts val="800"/>
              </a:spcBef>
              <a:defRPr sz="1500">
                <a:solidFill>
                  <a:srgbClr val="E0E0E0"/>
                </a:solidFill>
                <a:latin typeface="Calibri"/>
              </a:defRPr>
            </a:pPr>
            <a:r>
              <a:t>Reasons about the problem</a:t>
            </a:r>
          </a:p>
          <a:p>
            <a:pPr algn="ctr">
              <a:spcBef>
                <a:spcPts val="800"/>
              </a:spcBef>
              <a:defRPr sz="1500">
                <a:solidFill>
                  <a:srgbClr val="E0E0E0"/>
                </a:solidFill>
                <a:latin typeface="Calibri"/>
              </a:defRPr>
            </a:pPr>
            <a:r>
              <a:t>Decides what to do</a:t>
            </a:r>
          </a:p>
          <a:p>
            <a:pPr algn="ctr">
              <a:spcBef>
                <a:spcPts val="800"/>
              </a:spcBef>
              <a:defRPr sz="1500">
                <a:solidFill>
                  <a:srgbClr val="E0E0E0"/>
                </a:solidFill>
                <a:latin typeface="Calibri"/>
              </a:defRPr>
            </a:pPr>
            <a:r>
              <a:t>Acts or recommends</a:t>
            </a:r>
          </a:p>
          <a:p>
            <a:pPr algn="ctr">
              <a:spcBef>
                <a:spcPts val="800"/>
              </a:spcBef>
              <a:defRPr sz="1500">
                <a:solidFill>
                  <a:srgbClr val="E0E0E0"/>
                </a:solidFill>
                <a:latin typeface="Calibri"/>
              </a:defRPr>
            </a:pPr>
            <a:r>
              <a:t>Leaves an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Traditional Method vs Agentic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Why this is better than the normal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262646"/>
          </a:solidFill>
          <a:ln w="1524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Traditional manual method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1. Export reports from Oracle planning and purchasing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2. Review exceptions row by row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3. Decide urgency using incomplete context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4. Chase suppliers manually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5. Re-key PO information into Oracle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6. Split the audit trail across emails, spreadsheets, and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03520" cy="4389120"/>
          </a:xfrm>
          <a:prstGeom prst="roundRect">
            <a:avLst/>
          </a:prstGeom>
          <a:solidFill>
            <a:srgbClr val="262646"/>
          </a:solidFill>
          <a:ln w="1524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Agentic method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1. Read Oracle EBS directly in read-only mode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2. Run six procurement workflows in one pass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3. Score findings by urgency and business risk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4. Recommend or generate draft purchase orders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5. Save JSON and Excel outputs automatically</a:t>
            </a:r>
          </a:p>
          <a:p>
            <a:pPr>
              <a:spcBef>
                <a:spcPts val="600"/>
              </a:spcBef>
              <a:defRPr sz="1400">
                <a:solidFill>
                  <a:srgbClr val="E0E0E0"/>
                </a:solidFill>
                <a:latin typeface="Calibri"/>
              </a:defRPr>
            </a:pPr>
            <a:r>
              <a:t>6. Let Claude Desktop explain results in plain 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Manual vs Agent vs Claude Desktop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Business-friendly comparison from the procurement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65176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645920"/>
            <a:ext cx="265176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Manual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265176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645920"/>
            <a:ext cx="265176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 Through Claude Desktop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FFFFF"/>
                </a:solidFill>
                <a:latin typeface="Calibri"/>
              </a:defRPr>
            </a:pPr>
            <a:r>
              <a:t>Data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10312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Export and filter manually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0312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Direct Oracle 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210312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00C853"/>
                </a:solidFill>
                <a:latin typeface="Calibri"/>
              </a:defRPr>
            </a:pPr>
            <a:r>
              <a:t>Direct Oracle read through MCP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1460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FFFFF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51460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Slow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51460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51460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00C853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FFFFF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92608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Depends on 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92608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Rule-based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92608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00C853"/>
                </a:solidFill>
                <a:latin typeface="Calibri"/>
              </a:defRPr>
            </a:pPr>
            <a:r>
              <a:t>Rule-based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3756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FFFFF"/>
                </a:solidFill>
                <a:latin typeface="Calibri"/>
              </a:defRPr>
            </a:pPr>
            <a:r>
              <a:t>User experience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33756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Spreadsheet-heavy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33756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Technical CLI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333756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00C853"/>
                </a:solidFill>
                <a:latin typeface="Calibri"/>
              </a:defRPr>
            </a:pPr>
            <a:r>
              <a:t>Natural language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4904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FFFFF"/>
                </a:solidFill>
                <a:latin typeface="Calibri"/>
              </a:defRPr>
            </a:pPr>
            <a:r>
              <a:t>Auditability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74904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Fragmented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74904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374904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00C853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6052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FFFFF"/>
                </a:solidFill>
                <a:latin typeface="Calibri"/>
              </a:defRPr>
            </a:pPr>
            <a:r>
              <a:t>Ease for business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416052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Medium to 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16052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Low to 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416052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00C853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57200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FFFFF"/>
                </a:solidFill>
                <a:latin typeface="Calibri"/>
              </a:defRPr>
            </a:pPr>
            <a:r>
              <a:t>Need to know commands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57200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57200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4572000"/>
            <a:ext cx="2651760" cy="41148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00C85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98348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FFFFFF"/>
                </a:solidFill>
                <a:latin typeface="Calibri"/>
              </a:defRPr>
            </a:pPr>
            <a:r>
              <a:t>Explain 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498348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498348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E0E0E0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4983480"/>
            <a:ext cx="2651760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00C853"/>
                </a:solidFill>
                <a:latin typeface="Calibri"/>
              </a:defRPr>
            </a:pPr>
            <a:r>
              <a:t>Strong via Claude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Architecture in Simple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How the procurement MCP setup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965960" cy="2377440"/>
          </a:xfrm>
          <a:prstGeom prst="roundRect">
            <a:avLst/>
          </a:prstGeom>
          <a:solidFill>
            <a:srgbClr val="262646"/>
          </a:solidFill>
          <a:ln w="1524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4FC3F7"/>
                </a:solidFill>
                <a:latin typeface="Calibri"/>
              </a:defRPr>
            </a:pPr>
            <a:r>
              <a:t>1. Oracle EBS</a:t>
            </a:r>
          </a:p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This is where the planning, PO, inventory, and supplier data lives.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C3F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1965960" cy="2377440"/>
          </a:xfrm>
          <a:prstGeom prst="roundRect">
            <a:avLst/>
          </a:prstGeom>
          <a:solidFill>
            <a:srgbClr val="262646"/>
          </a:solidFill>
          <a:ln w="1524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4FC3F7"/>
                </a:solidFill>
                <a:latin typeface="Calibri"/>
              </a:defRPr>
            </a:pPr>
            <a:r>
              <a:t>2. Read-only Gateway</a:t>
            </a:r>
          </a:p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This keeps the connection safe. The agent reads data but does not change Oracle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C3F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1828800"/>
            <a:ext cx="1965960" cy="2377440"/>
          </a:xfrm>
          <a:prstGeom prst="roundRect">
            <a:avLst/>
          </a:prstGeom>
          <a:solidFill>
            <a:srgbClr val="262646"/>
          </a:solidFill>
          <a:ln w="1524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4FC3F7"/>
                </a:solidFill>
                <a:latin typeface="Calibri"/>
              </a:defRPr>
            </a:pPr>
            <a:r>
              <a:t>3. Decision Engine</a:t>
            </a:r>
          </a:p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This scores findings by urgency, financial impact, time pressure, and demand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C3F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828800"/>
            <a:ext cx="1965960" cy="2377440"/>
          </a:xfrm>
          <a:prstGeom prst="roundRect">
            <a:avLst/>
          </a:prstGeom>
          <a:solidFill>
            <a:srgbClr val="262646"/>
          </a:solidFill>
          <a:ln w="1524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4FC3F7"/>
                </a:solidFill>
                <a:latin typeface="Calibri"/>
              </a:defRPr>
            </a:pPr>
            <a:r>
              <a:t>4. MCP Server</a:t>
            </a:r>
          </a:p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This is the bridge Claude Desktop uses to run the procurement agent.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C3F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1828800"/>
            <a:ext cx="1965960" cy="2377440"/>
          </a:xfrm>
          <a:prstGeom prst="roundRect">
            <a:avLst/>
          </a:prstGeom>
          <a:solidFill>
            <a:srgbClr val="262646"/>
          </a:solidFill>
          <a:ln w="1524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4FC3F7"/>
                </a:solidFill>
                <a:latin typeface="Calibri"/>
              </a:defRPr>
            </a:pPr>
            <a:r>
              <a:t>5. Excel + JSON</a:t>
            </a:r>
          </a:p>
          <a:p>
            <a:pPr algn="ctr">
              <a:defRPr sz="1100">
                <a:solidFill>
                  <a:srgbClr val="E0E0E0"/>
                </a:solidFill>
                <a:latin typeface="Calibri"/>
              </a:defRPr>
            </a:pPr>
            <a:r>
              <a:t>These are the outputs for buyer review, audit, and follow-up.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726"/>
                </a:solidFill>
                <a:latin typeface="Calibri"/>
              </a:defRPr>
            </a:pPr>
            <a:r>
              <a:t>Important safety point: the procurement agent is read-only and does not directly write back to Oracle. Even draft POs are exported for human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the Process Works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Six practical steps from the complete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1546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FC3F7"/>
                </a:solidFill>
                <a:latin typeface="Calibri"/>
              </a:defRPr>
            </a:pPr>
            <a:r>
              <a:t>Step 1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Connect to Oracle EBS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828800"/>
            <a:ext cx="31546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FC3F7"/>
                </a:solidFill>
                <a:latin typeface="Calibri"/>
              </a:defRPr>
            </a:pPr>
            <a:r>
              <a:t>Step 2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Read planning, PO, inventory, and supplier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31546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FC3F7"/>
                </a:solidFill>
                <a:latin typeface="Calibri"/>
              </a:defRPr>
            </a:pPr>
            <a:r>
              <a:t>Step 3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Run six workflow analyses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31546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FC3F7"/>
                </a:solidFill>
                <a:latin typeface="Calibri"/>
              </a:defRPr>
            </a:pPr>
            <a:r>
              <a:t>Step 4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Score and prioritize each finding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1546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FC3F7"/>
                </a:solidFill>
                <a:latin typeface="Calibri"/>
              </a:defRPr>
            </a:pPr>
            <a:r>
              <a:t>Step 5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Recommend action or generate draft PO payload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657600"/>
            <a:ext cx="31546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FC3F7"/>
                </a:solidFill>
                <a:latin typeface="Calibri"/>
              </a:defRPr>
            </a:pPr>
            <a:r>
              <a:t>Step 6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Save JSON and Excel outputs for buyer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6 Workflows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Each workflow handles a different procurement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Workflow 1: Exception Triage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Sort hundreds of planning exceptions and push the most important ones to the 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645920"/>
            <a:ext cx="52120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Workflow 2: Late Supplier Detection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Find overdue purchase orders and identify suppliers with repeat late delivery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2120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Workflow 3: Safety Stock Alerts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Compare available supply against minimum buffer stock levels.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3154680"/>
            <a:ext cx="52120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Workflow 4: Price Anomaly Detection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Spot items where current prices drift above contract or normal historical levels.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2120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Workflow 5: Demand-to-PO Tracing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Find demand that is not yet covered by planned procurement supply.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4663440"/>
            <a:ext cx="5212080" cy="1234440"/>
          </a:xfrm>
          <a:prstGeom prst="roundRect">
            <a:avLst/>
          </a:prstGeom>
          <a:solidFill>
            <a:srgbClr val="262646"/>
          </a:solidFill>
          <a:ln w="1397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Workflow 6: Spend Analytics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Turn raw PO spend into supplier risk and savings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Workflow 1: Exception Triage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Sort hundreds of planning exceptions and push the most important ones to the 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What it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Past due purchase orders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Late replenishment orders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Items below safety stock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Orders at risk and demand not satisfied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Typical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96512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Create a draft PO for supply-side issues or notify the buyer for customer-facing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7667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Removes backlog noise and makes sure the team works on the highest-impact supply issues first.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3DB24C-DDB4-0F2A-44E9-21A29D2EB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476" y="1465833"/>
            <a:ext cx="6635116" cy="40831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Workflow 2: Late Supplier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Find overdue purchase orders and identify suppliers with repeat late delivery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What it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Open POs that are overdue or nearly overdue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Supplier on-time history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Repeated lateness across multiple orders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Availability of alternate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Typical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96512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Send a reminder for minor delay or escalate to the buyer with an alternate supplier recommendation for chronic lateness.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7667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Helps procurement act before lateness becomes a supply interruption.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9B7467-DABF-3980-C0AA-6EF8C7DED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60482"/>
            <a:ext cx="5353429" cy="50720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Workflow 3: Safety Stock Alerts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Compare available supply against minimum buffer stock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What it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Current supply vs safety stock target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Shortage size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Excess inventory above target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Best supplier based on lead time and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Typical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96512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Create a draft PO when stock is below target or flag excess inventory for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7667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Protects service levels while also making excess inventory visible.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6F9A06-F51B-F134-10F3-B952D147E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878486"/>
            <a:ext cx="6542675" cy="2945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Workflow 4: Price Anomaly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Spot items where current prices drift above contract or normal historical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What it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Current price vs contract price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Current price vs 12-month average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Missing blanket agreement context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Potential maverick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Typical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96512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Flag the item for renegotiation, review, or compliance follow-up depending on the size of the deviation.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7667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Protects margin and contract compliance by showing where pricing discipline is slipping.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6CA1A0-2A53-573C-8F7C-51E94724F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573" y="1808805"/>
            <a:ext cx="6500647" cy="29598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Workflow 5: Demand-to-PO Tracing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Find demand that is not yet covered by planned procurement supply.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What it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Demand records in planning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Pegging links between demand and supply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Planned purchase order coverage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Revenue at risk for uncovered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Typical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96512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Notify the buyer or create a draft PO recommendation when demand is exposed.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7667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Makes customer service risk visible before missed commitments happen.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1ACFE4-15A2-70BA-9BBB-EC9E0E757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256" y="1521556"/>
            <a:ext cx="5988269" cy="51499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Workflow 6: Spend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Turn raw PO spend into supplier risk and savings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What it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Supplier concentration risk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Maverick spend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Single-source supply risk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• Consolidation opportunities and spend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Typical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96512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Flag supplier dependency, off-contract spend, and savings opportunities for sourcing or management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7667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Helps the team move from transaction chasing to strategic procurement decisions.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DB678A-1FAB-B11B-1DF9-B03127971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423" y="55699"/>
            <a:ext cx="3976281" cy="27789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4BB006-859F-D610-B02F-DD3326299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922" y="2886246"/>
            <a:ext cx="3663747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Procurement Teams Like This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25603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Benefits, autonomy, and safe 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188720"/>
          </a:xfrm>
          <a:prstGeom prst="roundRect">
            <a:avLst/>
          </a:prstGeom>
          <a:solidFill>
            <a:srgbClr val="262646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4FC3F7"/>
                </a:solidFill>
                <a:latin typeface="Calibri"/>
              </a:defRPr>
            </a:pPr>
            <a:r>
              <a:t>Speed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The agent processes large exception backlogs far faster than manual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645920"/>
            <a:ext cx="5212080" cy="1188720"/>
          </a:xfrm>
          <a:prstGeom prst="roundRect">
            <a:avLst/>
          </a:prstGeom>
          <a:solidFill>
            <a:srgbClr val="262646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4FC3F7"/>
                </a:solidFill>
                <a:latin typeface="Calibri"/>
              </a:defRPr>
            </a:pPr>
            <a:r>
              <a:t>Consistency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The same rules and priority logic are applied every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212080" cy="1188720"/>
          </a:xfrm>
          <a:prstGeom prst="roundRect">
            <a:avLst/>
          </a:prstGeom>
          <a:solidFill>
            <a:srgbClr val="262646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4FC3F7"/>
                </a:solidFill>
                <a:latin typeface="Calibri"/>
              </a:defRPr>
            </a:pPr>
            <a:r>
              <a:t>Actionability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The output is not just a report. It includes buyer recommendations and draft PO payloads when enabled.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3108960"/>
            <a:ext cx="5212080" cy="1188720"/>
          </a:xfrm>
          <a:prstGeom prst="roundRect">
            <a:avLst/>
          </a:prstGeom>
          <a:solidFill>
            <a:srgbClr val="262646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4FC3F7"/>
                </a:solidFill>
                <a:latin typeface="Calibri"/>
              </a:defRPr>
            </a:pPr>
            <a:r>
              <a:t>Explainability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Every decision includes rationale, evidence, and a priority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212080" cy="1188720"/>
          </a:xfrm>
          <a:prstGeom prst="roundRect">
            <a:avLst/>
          </a:prstGeom>
          <a:solidFill>
            <a:srgbClr val="262646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4FC3F7"/>
                </a:solidFill>
                <a:latin typeface="Calibri"/>
              </a:defRPr>
            </a:pPr>
            <a:r>
              <a:t>Safety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Start with level 0 or 1. Even level 2 only creates draft PO payloads for human approval.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4572000"/>
            <a:ext cx="5212080" cy="1188720"/>
          </a:xfrm>
          <a:prstGeom prst="roundRect">
            <a:avLst/>
          </a:prstGeom>
          <a:solidFill>
            <a:srgbClr val="262646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4FC3F7"/>
                </a:solidFill>
                <a:latin typeface="Calibri"/>
              </a:defRPr>
            </a:pPr>
            <a:r>
              <a:t>Business usability</a:t>
            </a:r>
          </a:p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  <a:r>
              <a:t>Claude Desktop makes the whole flow accessible in plain English through MCP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726"/>
                </a:solidFill>
                <a:latin typeface="Calibri"/>
              </a:defRPr>
            </a:pPr>
            <a:r>
              <a:t>Closing line: The Procurement Agent AI turns Oracle EBS procurement data into an operational workbench instead of a reporting backlog.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1607</Words>
  <Application>Microsoft Macintosh PowerPoint</Application>
  <PresentationFormat>Widescreen</PresentationFormat>
  <Paragraphs>213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Krit Nandan</cp:lastModifiedBy>
  <cp:revision>2</cp:revision>
  <dcterms:created xsi:type="dcterms:W3CDTF">2013-01-27T09:14:16Z</dcterms:created>
  <dcterms:modified xsi:type="dcterms:W3CDTF">2026-03-12T13:29:36Z</dcterms:modified>
  <cp:category/>
</cp:coreProperties>
</file>